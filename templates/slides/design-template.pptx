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표지: 제목은 결론 한 문장으로 씁니다. 두 줄을 넘기지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5750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2026 하반기 운영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38500"/>
            <a:ext cx="91440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111315"/>
                </a:solidFill>
                <a:latin typeface="Pretendard"/>
              </a:rPr>
              <a:t>문서 양식을 하나로 맞추면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111315"/>
                </a:solidFill>
                <a:latin typeface="Pretendard"/>
              </a:rPr>
              <a:t>보고 시간이 줄어듭니다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625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D636B"/>
                </a:solidFill>
                <a:latin typeface="Pretendard"/>
              </a:rPr>
              <a:t>팀별로 흩어진 보고서, 회의록, 발표 자료를 공통 양식으로 정리한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36B"/>
                </a:solidFill>
                <a:latin typeface="Pretendard"/>
              </a:rPr>
              <a:t>경영지원팀 문서표준 TF   ·   2026. 10.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4900"/>
            <a:ext cx="9525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11315"/>
                </a:solidFill>
                <a:latin typeface="Pretendard"/>
              </a:rPr>
              <a:t>오늘 다룰 내용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286000"/>
            <a:ext cx="49530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914400" y="25146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2476500"/>
            <a:ext cx="419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지금 문서 작성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2838450"/>
            <a:ext cx="419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팀별 양식 현황과 걸리는 시간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48400" y="2286000"/>
            <a:ext cx="49530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248400" y="25146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76500"/>
            <a:ext cx="419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공통 양식 12종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8450"/>
            <a:ext cx="419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보고서, 회의록, 발표, 대시보드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524250"/>
            <a:ext cx="49530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14400" y="37528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3714750"/>
            <a:ext cx="419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시범 운영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076700"/>
            <a:ext cx="419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3개 팀, 6주간 측정한 수치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48400" y="3524250"/>
            <a:ext cx="49530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48400" y="37528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14750"/>
            <a:ext cx="419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전사 적용 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76700"/>
            <a:ext cx="419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11월부터 단계적으로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문서표준 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95500"/>
            <a:ext cx="3810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>
                <a:solidFill>
                  <a:srgbClr val="0F6E5C"/>
                </a:solidFill>
                <a:latin typeface="Pretendar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38500"/>
            <a:ext cx="952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11315"/>
                </a:solidFill>
                <a:latin typeface="Pretendard"/>
              </a:rPr>
              <a:t>지금 문서 작성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8625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D636B"/>
                </a:solidFill>
                <a:latin typeface="Pretendard"/>
              </a:rPr>
              <a:t>같은 내용을 팀마다 다른 모양으로 만들고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8250"/>
            <a:ext cx="41910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11315"/>
                </a:solidFill>
                <a:latin typeface="Pretendard"/>
              </a:rPr>
              <a:t>양식을 고르는 데만</a:t>
            </a:r>
          </a:p>
          <a:p>
            <a:pPr algn="l">
              <a:lnSpc>
                <a:spcPct val="120000"/>
              </a:lnSpc>
            </a:pPr>
            <a:r>
              <a:rPr sz="3200" b="1">
                <a:solidFill>
                  <a:srgbClr val="111315"/>
                </a:solidFill>
                <a:latin typeface="Pretendard"/>
              </a:rPr>
              <a:t>보고서 한 건당</a:t>
            </a:r>
          </a:p>
          <a:p>
            <a:pPr algn="l">
              <a:lnSpc>
                <a:spcPct val="120000"/>
              </a:lnSpc>
            </a:pPr>
            <a:r>
              <a:rPr sz="3200" b="1">
                <a:solidFill>
                  <a:srgbClr val="111315"/>
                </a:solidFill>
                <a:latin typeface="Pretendard"/>
              </a:rPr>
              <a:t>40분을 씁니다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15000" y="1466850"/>
            <a:ext cx="11430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019800" y="1333500"/>
            <a:ext cx="5334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11315"/>
                </a:solidFill>
                <a:latin typeface="Pretendard"/>
              </a:rPr>
              <a:t>양식 27종이 공유 드라이브에 흩어져 있고, 최신본을 찾기 어렵습니다.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2419350"/>
            <a:ext cx="11430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019800" y="2286000"/>
            <a:ext cx="5334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11315"/>
                </a:solidFill>
                <a:latin typeface="Pretendard"/>
              </a:rPr>
              <a:t>같은 주간 보고라도 팀마다 항목 순서가 달라 취합에 시간이 듭니다.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3371850"/>
            <a:ext cx="11430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19800" y="3238500"/>
            <a:ext cx="5334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11315"/>
                </a:solidFill>
                <a:latin typeface="Pretendard"/>
              </a:rPr>
              <a:t>발표 자료는 매번 새로 만들어 글꼴과 색이 제각각입니다.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출처: 9월 사내 설문 (응답 212명)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선택지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4900"/>
            <a:ext cx="9525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11315"/>
                </a:solidFill>
                <a:latin typeface="Pretendard"/>
              </a:rPr>
              <a:t>두 가지 방법을 검토했습니다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95500"/>
            <a:ext cx="5029200" cy="3619500"/>
          </a:xfrm>
          <a:prstGeom prst="roundRect">
            <a:avLst>
              <a:gd name="adj" fmla="val 3157"/>
            </a:avLst>
          </a:prstGeom>
          <a:noFill/>
          <a:ln w="9525">
            <a:solidFill>
              <a:srgbClr val="E4E6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400" y="243840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A. 외부 양식 구매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3009900"/>
            <a:ext cx="428625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바로 쓸 수 있지만 연 480만 원이 듭니다</a:t>
            </a:r>
          </a:p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사내 용어와 결재 항목을 따로 고쳐야 합니다</a:t>
            </a:r>
          </a:p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글꼴 라이선스를 별도로 확인해야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2095500"/>
            <a:ext cx="5029200" cy="3619500"/>
          </a:xfrm>
          <a:prstGeom prst="roundRect">
            <a:avLst>
              <a:gd name="adj" fmla="val 3157"/>
            </a:avLst>
          </a:prstGeom>
          <a:noFill/>
          <a:ln w="9525">
            <a:solidFill>
              <a:srgbClr val="0F6E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43840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315"/>
                </a:solidFill>
                <a:latin typeface="Pretendard"/>
              </a:rPr>
              <a:t>B. 공통 양식 직접 제작 (추천)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009900"/>
            <a:ext cx="428625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추가 비용 없이 기존 디자인 기준을 따릅니다</a:t>
            </a:r>
          </a:p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하나의 원본으로 화면, 발표, PDF를 만듭니다</a:t>
            </a:r>
          </a:p>
          <a:p>
            <a:pPr algn="l">
              <a:lnSpc>
                <a:spcPct val="18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· 필요한 양식을 팀이 직접 늘릴 수 있습니다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문서표준 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시범 운영 결과 · 6주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4900"/>
            <a:ext cx="9525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11315"/>
                </a:solidFill>
                <a:latin typeface="Pretendard"/>
              </a:rPr>
              <a:t>세 팀 모두 작성 시간이 줄었습니다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429000"/>
            <a:ext cx="323850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914400" y="36576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보고서 작성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0500"/>
            <a:ext cx="3238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>
                <a:solidFill>
                  <a:srgbClr val="111315"/>
                </a:solidFill>
                <a:latin typeface="Pretendard"/>
              </a:rPr>
              <a:t>-38%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48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평균 2시간 10분 → 1시간 21분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8650" y="3429000"/>
            <a:ext cx="3238500" cy="0"/>
          </a:xfrm>
          <a:prstGeom prst="line">
            <a:avLst/>
          </a:prstGeom>
          <a:ln w="19050">
            <a:solidFill>
              <a:srgbClr val="11131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438650" y="36576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취합 단계 수정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8650" y="4000500"/>
            <a:ext cx="3238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>
                <a:solidFill>
                  <a:srgbClr val="111315"/>
                </a:solidFill>
                <a:latin typeface="Pretendard"/>
              </a:rPr>
              <a:t>-61%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8650" y="5048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주당 18건 → 7건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62900" y="3429000"/>
            <a:ext cx="3238500" cy="0"/>
          </a:xfrm>
          <a:prstGeom prst="line">
            <a:avLst/>
          </a:prstGeom>
          <a:ln w="19050">
            <a:solidFill>
              <a:srgbClr val="111315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962900" y="36576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양식 재사용률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4000500"/>
            <a:ext cx="3238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>
                <a:solidFill>
                  <a:srgbClr val="111315"/>
                </a:solidFill>
                <a:latin typeface="Pretendard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0" y="5048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36B"/>
                </a:solidFill>
                <a:latin typeface="Pretendard"/>
              </a:rPr>
              <a:t>새 문서 중 공통 양식 사용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측정 기간 8.25 ~ 10.3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양식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4900"/>
            <a:ext cx="9525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11315"/>
                </a:solidFill>
                <a:latin typeface="Pretendard"/>
              </a:rPr>
              <a:t>먼저 다섯 가지 양식을 배포합니다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95500"/>
          <a:ext cx="103632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500"/>
                <a:gridCol w="2667000"/>
                <a:gridCol w="1905000"/>
                <a:gridCol w="25527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D636B"/>
                          </a:solidFill>
                          <a:latin typeface="Pretendard"/>
                        </a:rPr>
                        <a:t>양식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D636B"/>
                          </a:solidFill>
                          <a:latin typeface="Pretendard"/>
                        </a:rPr>
                        <a:t>주 사용처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5D636B"/>
                          </a:solidFill>
                          <a:latin typeface="Pretendard"/>
                        </a:rPr>
                        <a:t>월 사용 예상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D636B"/>
                          </a:solidFill>
                          <a:latin typeface="Pretendard"/>
                        </a:rPr>
                        <a:t>형식</a:t>
                      </a:r>
                    </a:p>
                  </a:txBody>
                  <a:tcPr marL="152400" anchor="ctr"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315"/>
                          </a:solidFill>
                          <a:latin typeface="Pretendard"/>
                        </a:rPr>
                        <a:t>주간 업무 보고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315"/>
                          </a:solidFill>
                          <a:latin typeface="Pretendard"/>
                        </a:rPr>
                        <a:t>전 부서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11315"/>
                          </a:solidFill>
                          <a:latin typeface="Pretendard"/>
                        </a:rPr>
                        <a:t>640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315"/>
                          </a:solidFill>
                          <a:latin typeface="Pretendard"/>
                        </a:rPr>
                        <a:t>문서, 마크다운</a:t>
                      </a:r>
                    </a:p>
                  </a:txBody>
                  <a:tcPr marL="152400" anchor="ctr"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회의록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전 부서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410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문서, 마크다운</a:t>
                      </a:r>
                    </a:p>
                  </a:txBody>
                  <a:tcPr marL="152400" anchor="ctr"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기획·제안서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기획, 영업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85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문서</a:t>
                      </a:r>
                    </a:p>
                  </a:txBody>
                  <a:tcPr marL="152400" anchor="ctr"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발표 자료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전 부서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120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슬라이드, PPTX</a:t>
                      </a:r>
                    </a:p>
                  </a:txBody>
                  <a:tcPr marL="152400" anchor="ctr"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성과 대시보드</a:t>
                      </a:r>
                    </a:p>
                  </a:txBody>
                  <a:tcPr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경영, 영업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30</a:t>
                      </a:r>
                    </a:p>
                  </a:txBody>
                  <a:tcPr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315"/>
                          </a:solidFill>
                          <a:latin typeface="Pretendard"/>
                        </a:rPr>
                        <a:t>대시보드</a:t>
                      </a:r>
                    </a:p>
                  </a:txBody>
                  <a:tcPr marL="152400"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914400" y="20955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14400" y="26670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914400" y="32385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914400" y="38100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914400" y="43815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914400" y="49530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914400" y="5524500"/>
            <a:ext cx="10363200" cy="0"/>
          </a:xfrm>
          <a:prstGeom prst="line">
            <a:avLst/>
          </a:prstGeom>
          <a:ln w="9525">
            <a:solidFill>
              <a:srgbClr val="E4E6E9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월 사용 예상은 9월 실제 문서 수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62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적용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4900"/>
            <a:ext cx="9525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11315"/>
                </a:solidFill>
                <a:latin typeface="Pretendard"/>
              </a:rPr>
              <a:t>11월부터 네 단계로 전환합니다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810000"/>
            <a:ext cx="241935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914400" y="4038600"/>
            <a:ext cx="2419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10월 1주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24193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315"/>
                </a:solidFill>
                <a:latin typeface="Pretendard"/>
              </a:rPr>
              <a:t>양식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24400"/>
            <a:ext cx="2419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시범 팀 의견 반영 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2350" y="3810000"/>
            <a:ext cx="2419350" cy="0"/>
          </a:xfrm>
          <a:prstGeom prst="line">
            <a:avLst/>
          </a:prstGeom>
          <a:ln w="19050">
            <a:solidFill>
              <a:srgbClr val="0F6E5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562350" y="4038600"/>
            <a:ext cx="2419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10월 4주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350" y="4343400"/>
            <a:ext cx="24193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315"/>
                </a:solidFill>
                <a:latin typeface="Pretendard"/>
              </a:rPr>
              <a:t>사내 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350" y="4724400"/>
            <a:ext cx="2419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사용 안내서와 교육 영상 배포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0300" y="3810000"/>
            <a:ext cx="2419350" cy="0"/>
          </a:xfrm>
          <a:prstGeom prst="line">
            <a:avLst/>
          </a:prstGeom>
          <a:ln w="19050">
            <a:solidFill>
              <a:srgbClr val="E4E6E9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210300" y="4038600"/>
            <a:ext cx="2419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11월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4343400"/>
            <a:ext cx="24193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315"/>
                </a:solidFill>
                <a:latin typeface="Pretendard"/>
              </a:rPr>
              <a:t>전 부서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4724400"/>
            <a:ext cx="2419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기존 양식은 읽기 전용으로 보관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58250" y="3810000"/>
            <a:ext cx="2419350" cy="0"/>
          </a:xfrm>
          <a:prstGeom prst="line">
            <a:avLst/>
          </a:prstGeom>
          <a:ln w="19050">
            <a:solidFill>
              <a:srgbClr val="E4E6E9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858250" y="4038600"/>
            <a:ext cx="2419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12월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0" y="4343400"/>
            <a:ext cx="24193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315"/>
                </a:solidFill>
                <a:latin typeface="Pretendard"/>
              </a:rPr>
              <a:t>효과 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0" y="4724400"/>
            <a:ext cx="2419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D636B"/>
                </a:solidFill>
                <a:latin typeface="Pretendard"/>
              </a:rPr>
              <a:t>작성 시간, 수정 요청 재측정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91250"/>
            <a:ext cx="762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문서표준 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5100" y="6191250"/>
            <a:ext cx="95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5D636B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430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6E5C"/>
                </a:solidFill>
                <a:latin typeface="Pretendard"/>
              </a:rPr>
              <a:t>요청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24000"/>
            <a:ext cx="952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315"/>
                </a:solidFill>
                <a:latin typeface="Pretendard"/>
              </a:rPr>
              <a:t>10월 24일까지 팀별 담당자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315"/>
                </a:solidFill>
                <a:latin typeface="Pretendard"/>
              </a:rPr>
              <a:t>한 명을 정해 주세요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34000"/>
            <a:ext cx="304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36B"/>
                </a:solidFill>
                <a:latin typeface="Pretendard"/>
              </a:rPr>
              <a:t>담당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00700"/>
            <a:ext cx="304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문서표준 TF 김서연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334000"/>
            <a:ext cx="304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36B"/>
                </a:solidFill>
                <a:latin typeface="Pretendard"/>
              </a:rPr>
              <a:t>메일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5600700"/>
            <a:ext cx="304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docs-tf@company.example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34000"/>
            <a:ext cx="304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36B"/>
                </a:solidFill>
                <a:latin typeface="Pretendard"/>
              </a:rPr>
              <a:t>문의 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600700"/>
            <a:ext cx="304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11315"/>
                </a:solidFill>
                <a:latin typeface="Pretendard"/>
              </a:rPr>
              <a:t>#문서표준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